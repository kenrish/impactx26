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Kengeri" userId="7d2be734bafd6794" providerId="LiveId" clId="{EA8A860E-F9ED-44C2-96FB-D28C98340CB6}"/>
    <pc:docChg chg="custSel delSld modSld">
      <pc:chgData name="Rishabh Kengeri" userId="7d2be734bafd6794" providerId="LiveId" clId="{EA8A860E-F9ED-44C2-96FB-D28C98340CB6}" dt="2026-10-24T07:03:02.266" v="91" actId="2696"/>
      <pc:docMkLst>
        <pc:docMk/>
      </pc:docMkLst>
      <pc:sldChg chg="delSp modSp mod">
        <pc:chgData name="Rishabh Kengeri" userId="7d2be734bafd6794" providerId="LiveId" clId="{EA8A860E-F9ED-44C2-96FB-D28C98340CB6}" dt="2026-10-24T06:55:06.644" v="90" actId="1035"/>
        <pc:sldMkLst>
          <pc:docMk/>
          <pc:sldMk cId="0" sldId="260"/>
        </pc:sldMkLst>
        <pc:spChg chg="mod">
          <ac:chgData name="Rishabh Kengeri" userId="7d2be734bafd6794" providerId="LiveId" clId="{EA8A860E-F9ED-44C2-96FB-D28C98340CB6}" dt="2026-10-24T06:50:18.149" v="35" actId="20577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Rishabh Kengeri" userId="7d2be734bafd6794" providerId="LiveId" clId="{EA8A860E-F9ED-44C2-96FB-D28C98340CB6}" dt="2026-10-24T06:54:16.959" v="37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ishabh Kengeri" userId="7d2be734bafd6794" providerId="LiveId" clId="{EA8A860E-F9ED-44C2-96FB-D28C98340CB6}" dt="2026-10-24T06:54:18.374" v="38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ishabh Kengeri" userId="7d2be734bafd6794" providerId="LiveId" clId="{EA8A860E-F9ED-44C2-96FB-D28C98340CB6}" dt="2026-10-24T06:54:19.765" v="39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ishabh Kengeri" userId="7d2be734bafd6794" providerId="LiveId" clId="{EA8A860E-F9ED-44C2-96FB-D28C98340CB6}" dt="2026-10-24T06:55:06.644" v="90" actId="103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ishabh Kengeri" userId="7d2be734bafd6794" providerId="LiveId" clId="{EA8A860E-F9ED-44C2-96FB-D28C98340CB6}" dt="2026-10-24T06:55:06.644" v="90" actId="1035"/>
          <ac:spMkLst>
            <pc:docMk/>
            <pc:sldMk cId="0" sldId="260"/>
            <ac:spMk id="17" creationId="{00000000-0000-0000-0000-000000000000}"/>
          </ac:spMkLst>
        </pc:spChg>
      </pc:sldChg>
      <pc:sldChg chg="del">
        <pc:chgData name="Rishabh Kengeri" userId="7d2be734bafd6794" providerId="LiveId" clId="{EA8A860E-F9ED-44C2-96FB-D28C98340CB6}" dt="2026-10-24T07:03:02.266" v="91" actId="269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97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822418"/>
            <a:ext cx="10566400" cy="47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602145"/>
            <a:ext cx="10566400" cy="344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822418"/>
            <a:ext cx="10566400" cy="47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602145"/>
            <a:ext cx="10566400" cy="344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065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5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| The Problem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01355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Making Tax Services Understandable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25875"/>
            <a:ext cx="9156700" cy="67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D9DE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often don’t know what a tax step means or what to do next. The usual fix is to add a chatbot.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9497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Chatbots Seem Like the Answer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2783417"/>
            <a:ext cx="3380317" cy="1446080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3038475"/>
            <a:ext cx="2956306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Always available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71033" y="3460089"/>
            <a:ext cx="295630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 is there at any hour, without waiting for a helpline.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42" y="2783417"/>
            <a:ext cx="3380317" cy="1446080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0900" y="3038475"/>
            <a:ext cx="2956306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Instant replies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60900" y="3460089"/>
            <a:ext cx="295630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get an answer in seconds.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09" y="2783417"/>
            <a:ext cx="3380317" cy="1446080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0767" y="3038475"/>
            <a:ext cx="2956306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Common questions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50767" y="3460089"/>
            <a:ext cx="295630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Frequent queries are answered without a human.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588272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paper, a chatbot fits the problem.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037953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Where Chatbots Fall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2871656"/>
            <a:ext cx="3383095" cy="1945217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3126715"/>
            <a:ext cx="29591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Scripted chatbots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033" y="3533115"/>
            <a:ext cx="2959167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Limited by what the developer predicted users would ask. Unexpected wording gets a generic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8620" y="2871656"/>
            <a:ext cx="3383161" cy="1945217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678" y="3126715"/>
            <a:ext cx="2959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LLM chatbots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678" y="3533115"/>
            <a:ext cx="295923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still need to know what to ask. Answers can be long, generic or wrong, and sit away from the confusing field.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8156" y="2868481"/>
            <a:ext cx="3381044" cy="1951567"/>
          </a:xfrm>
          <a:prstGeom prst="roundRect">
            <a:avLst>
              <a:gd name="adj" fmla="val 5206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8252156" y="3122481"/>
            <a:ext cx="2959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A5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Both kinds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2156" y="3528881"/>
            <a:ext cx="295923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fixed explanation, even though users need different levels of detail.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incometax.gov.in/iec/foportal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25650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5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Insight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470150"/>
            <a:ext cx="483997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confusion doesn’t start at the form. It starts at the front door.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905250"/>
            <a:ext cx="4839970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D9DE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e-Filing home page shows a banner, a ticker, long announcements and seven menus before a new user finds where to start.</a:t>
            </a:r>
            <a:endParaRPr lang="en-US" sz="1400" dirty="0"/>
          </a:p>
        </p:txBody>
      </p:sp>
      <p:pic>
        <p:nvPicPr>
          <p:cNvPr id="6" name="Image 0" descr="Screenshot of the Income Tax e-Filing portal home page with a banner, ticker and announcements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681795" y="1570038"/>
            <a:ext cx="5867400" cy="3514725"/>
          </a:xfrm>
          <a:prstGeom prst="roundRect">
            <a:avLst>
              <a:gd name="adj" fmla="val 2891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695121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Understanding Layer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2376422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2479080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Guided start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064000" y="2499984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</a:t>
            </a:r>
            <a:r>
              <a:rPr lang="en-US" sz="1500" dirty="0" err="1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Regsterd</a:t>
            </a: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User/ New User?” opens short paths into the right section.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949575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3052235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Contextual help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64000" y="3073136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“?” at the exact field, with a short hint, a “learn more” option and an example.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522731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3625388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Mismatch flags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64000" y="3646289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Inline notes beside data that doesn’t line up, with a plain-language reason.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095883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197252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Progress cues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064000" y="4218153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always see where they are in the process.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412413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It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2195314"/>
            <a:ext cx="5175250" cy="1647362"/>
          </a:xfrm>
          <a:prstGeom prst="roundRect">
            <a:avLst>
              <a:gd name="adj" fmla="val 5975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2450374"/>
            <a:ext cx="48050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Faster starts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1033" y="2816095"/>
            <a:ext cx="48050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Quicker time to the first correct action, with fewer wrong turns.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2195314"/>
            <a:ext cx="5175250" cy="1647362"/>
          </a:xfrm>
          <a:prstGeom prst="roundRect">
            <a:avLst>
              <a:gd name="adj" fmla="val 5975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5833" y="2450374"/>
            <a:ext cx="48050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Fewer errors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55833" y="2816095"/>
            <a:ext cx="480508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Mismatches caught before submission, so fewer abandoned filings and less reliance on helplines and accountants.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4052227"/>
            <a:ext cx="5175250" cy="1390187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033" y="4307284"/>
            <a:ext cx="48050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Easy to adopt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71033" y="4673005"/>
            <a:ext cx="48050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layer on top of existing portals, so nothing has to be rebuilt.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4052227"/>
            <a:ext cx="5175250" cy="1390187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833" y="4307284"/>
            <a:ext cx="48050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Scalable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55833" y="4673005"/>
            <a:ext cx="48050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“Explain at the point of confusion” works for any government or financial service.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394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5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05444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Chatbots answer questions well, but the best help is the kind users never have to ask for. That’s what an understanding layer delivers.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963659"/>
            <a:ext cx="9810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2A5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We’re not adding tooltips. We’re changing who does the work of understanding: from the user to the interface.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king Tax Services Understandable">
  <a:themeElements>
    <a:clrScheme name="Making Tax Services Understandable">
      <a:dk1>
        <a:srgbClr val="14213D"/>
      </a:dk1>
      <a:lt1>
        <a:srgbClr val="F6F3EC"/>
      </a:lt1>
      <a:dk2>
        <a:srgbClr val="4D5669"/>
      </a:dk2>
      <a:lt2>
        <a:srgbClr val="DFDEDB"/>
      </a:lt2>
      <a:accent1>
        <a:srgbClr val="F2A541"/>
      </a:accent1>
      <a:accent2>
        <a:srgbClr val="1F5F8B"/>
      </a:accent2>
      <a:accent3>
        <a:srgbClr val="4A5262"/>
      </a:accent3>
      <a:accent4>
        <a:srgbClr val="D9DEEA"/>
      </a:accent4>
      <a:accent5>
        <a:srgbClr val="A9B4CC"/>
      </a:accent5>
      <a:accent6>
        <a:srgbClr val="9AA0A6"/>
      </a:accent6>
      <a:hlink>
        <a:srgbClr val="0563C1"/>
      </a:hlink>
      <a:folHlink>
        <a:srgbClr val="954F72"/>
      </a:folHlink>
    </a:clrScheme>
    <a:fontScheme name="Making Tax Services Understandabl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399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Georgia</vt:lpstr>
      <vt:lpstr>Helvetica</vt:lpstr>
      <vt:lpstr>Making Tax Services Understandable</vt:lpstr>
      <vt:lpstr>Making Tax Services Understandable</vt:lpstr>
      <vt:lpstr>Why Chatbots Seem Like the Answer</vt:lpstr>
      <vt:lpstr>Where Chatbots Fall Short</vt:lpstr>
      <vt:lpstr>The confusion doesn’t start at the form. It starts at the front door.</vt:lpstr>
      <vt:lpstr>The Understanding Layer</vt:lpstr>
      <vt:lpstr>Why It Matters</vt:lpstr>
      <vt:lpstr>Chatbots answer questions well, but the best help is the kind users never have to ask for. That’s what an understanding layer delivers.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Tax Services Understandable</dc:title>
  <dc:subject/>
  <dc:creator/>
  <cp:lastModifiedBy>Rishabh Kengeri</cp:lastModifiedBy>
  <cp:revision>1</cp:revision>
  <dcterms:created xsi:type="dcterms:W3CDTF">2026-10-24T05:52:07Z</dcterms:created>
  <dcterms:modified xsi:type="dcterms:W3CDTF">2026-10-24T07:03:06Z</dcterms:modified>
</cp:coreProperties>
</file>